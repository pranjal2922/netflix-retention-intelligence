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3359D7-B2A1-4F46-9A76-22A772F2857D}" v="19" dt="2026-09-16T15:24:01.4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maan _" userId="77787d65ed9969c5" providerId="LiveId" clId="{BB6949FE-2525-44B7-ABE7-C4CC4602B6C7}"/>
    <pc:docChg chg="custSel addSld modSld">
      <pc:chgData name="Armaan _" userId="77787d65ed9969c5" providerId="LiveId" clId="{BB6949FE-2525-44B7-ABE7-C4CC4602B6C7}" dt="2026-09-16T15:24:01.426" v="256"/>
      <pc:docMkLst>
        <pc:docMk/>
      </pc:docMkLst>
      <pc:sldChg chg="addSp delSp modSp mod">
        <pc:chgData name="Armaan _" userId="77787d65ed9969c5" providerId="LiveId" clId="{BB6949FE-2525-44B7-ABE7-C4CC4602B6C7}" dt="2026-09-16T15:24:01.426" v="256"/>
        <pc:sldMkLst>
          <pc:docMk/>
          <pc:sldMk cId="0" sldId="266"/>
        </pc:sldMkLst>
        <pc:spChg chg="del">
          <ac:chgData name="Armaan _" userId="77787d65ed9969c5" providerId="LiveId" clId="{BB6949FE-2525-44B7-ABE7-C4CC4602B6C7}" dt="2026-09-16T06:50:37.057" v="110" actId="478"/>
          <ac:spMkLst>
            <pc:docMk/>
            <pc:sldMk cId="0" sldId="266"/>
            <ac:spMk id="5" creationId="{00000000-0000-0000-0000-000000000000}"/>
          </ac:spMkLst>
        </pc:spChg>
        <pc:spChg chg="add del mod">
          <ac:chgData name="Armaan _" userId="77787d65ed9969c5" providerId="LiveId" clId="{BB6949FE-2525-44B7-ABE7-C4CC4602B6C7}" dt="2026-09-16T07:50:31.959" v="252"/>
          <ac:spMkLst>
            <pc:docMk/>
            <pc:sldMk cId="0" sldId="266"/>
            <ac:spMk id="5" creationId="{4F93B32B-8E96-C769-CF1E-A13C801D5480}"/>
          </ac:spMkLst>
        </pc:spChg>
        <pc:spChg chg="del">
          <ac:chgData name="Armaan _" userId="77787d65ed9969c5" providerId="LiveId" clId="{BB6949FE-2525-44B7-ABE7-C4CC4602B6C7}" dt="2026-09-16T06:50:37.057" v="110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Armaan _" userId="77787d65ed9969c5" providerId="LiveId" clId="{BB6949FE-2525-44B7-ABE7-C4CC4602B6C7}" dt="2026-09-16T06:50:37.057" v="110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Armaan _" userId="77787d65ed9969c5" providerId="LiveId" clId="{BB6949FE-2525-44B7-ABE7-C4CC4602B6C7}" dt="2026-09-16T06:50:37.057" v="110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Armaan _" userId="77787d65ed9969c5" providerId="LiveId" clId="{BB6949FE-2525-44B7-ABE7-C4CC4602B6C7}" dt="2026-09-16T06:50:37.057" v="110" actId="478"/>
          <ac:spMkLst>
            <pc:docMk/>
            <pc:sldMk cId="0" sldId="266"/>
            <ac:spMk id="9" creationId="{00000000-0000-0000-0000-000000000000}"/>
          </ac:spMkLst>
        </pc:spChg>
        <pc:spChg chg="add mod">
          <ac:chgData name="Armaan _" userId="77787d65ed9969c5" providerId="LiveId" clId="{BB6949FE-2525-44B7-ABE7-C4CC4602B6C7}" dt="2026-09-16T06:51:16.144" v="136" actId="404"/>
          <ac:spMkLst>
            <pc:docMk/>
            <pc:sldMk cId="0" sldId="266"/>
            <ac:spMk id="10" creationId="{35BE2A71-99AC-56C1-2782-3E3F3D9741A0}"/>
          </ac:spMkLst>
        </pc:spChg>
        <pc:spChg chg="add mod">
          <ac:chgData name="Armaan _" userId="77787d65ed9969c5" providerId="LiveId" clId="{BB6949FE-2525-44B7-ABE7-C4CC4602B6C7}" dt="2026-09-16T15:24:01.426" v="256"/>
          <ac:spMkLst>
            <pc:docMk/>
            <pc:sldMk cId="0" sldId="266"/>
            <ac:spMk id="11" creationId="{B196743C-622C-D631-870A-CC80227F65AE}"/>
          </ac:spMkLst>
        </pc:spChg>
      </pc:sldChg>
      <pc:sldChg chg="addSp delSp modSp add mod">
        <pc:chgData name="Armaan _" userId="77787d65ed9969c5" providerId="LiveId" clId="{BB6949FE-2525-44B7-ABE7-C4CC4602B6C7}" dt="2026-09-16T06:50:12.016" v="108" actId="207"/>
        <pc:sldMkLst>
          <pc:docMk/>
          <pc:sldMk cId="2362573507" sldId="267"/>
        </pc:sldMkLst>
        <pc:spChg chg="mod">
          <ac:chgData name="Armaan _" userId="77787d65ed9969c5" providerId="LiveId" clId="{BB6949FE-2525-44B7-ABE7-C4CC4602B6C7}" dt="2026-09-16T06:47:06.586" v="1" actId="20577"/>
          <ac:spMkLst>
            <pc:docMk/>
            <pc:sldMk cId="2362573507" sldId="267"/>
            <ac:spMk id="5" creationId="{4F685226-DA31-EC79-AF3B-D656FE20B540}"/>
          </ac:spMkLst>
        </pc:spChg>
        <pc:spChg chg="mod">
          <ac:chgData name="Armaan _" userId="77787d65ed9969c5" providerId="LiveId" clId="{BB6949FE-2525-44B7-ABE7-C4CC4602B6C7}" dt="2026-09-16T06:47:19.070" v="5" actId="20577"/>
          <ac:spMkLst>
            <pc:docMk/>
            <pc:sldMk cId="2362573507" sldId="267"/>
            <ac:spMk id="6" creationId="{963C6D69-AB0D-638C-6C25-F5431A64A257}"/>
          </ac:spMkLst>
        </pc:spChg>
        <pc:spChg chg="mod">
          <ac:chgData name="Armaan _" userId="77787d65ed9969c5" providerId="LiveId" clId="{BB6949FE-2525-44B7-ABE7-C4CC4602B6C7}" dt="2026-09-16T06:47:14.877" v="4" actId="6549"/>
          <ac:spMkLst>
            <pc:docMk/>
            <pc:sldMk cId="2362573507" sldId="267"/>
            <ac:spMk id="7" creationId="{84D908A7-742F-4876-C27B-27148CDD37F9}"/>
          </ac:spMkLst>
        </pc:spChg>
        <pc:spChg chg="mod">
          <ac:chgData name="Armaan _" userId="77787d65ed9969c5" providerId="LiveId" clId="{BB6949FE-2525-44B7-ABE7-C4CC4602B6C7}" dt="2026-09-16T06:47:22.413" v="6" actId="20577"/>
          <ac:spMkLst>
            <pc:docMk/>
            <pc:sldMk cId="2362573507" sldId="267"/>
            <ac:spMk id="8" creationId="{0F9285DD-67B5-08E3-D9CD-7843A16C6A5B}"/>
          </ac:spMkLst>
        </pc:spChg>
        <pc:spChg chg="del">
          <ac:chgData name="Armaan _" userId="77787d65ed9969c5" providerId="LiveId" clId="{BB6949FE-2525-44B7-ABE7-C4CC4602B6C7}" dt="2026-09-16T06:47:27.094" v="8" actId="478"/>
          <ac:spMkLst>
            <pc:docMk/>
            <pc:sldMk cId="2362573507" sldId="267"/>
            <ac:spMk id="9" creationId="{F3AA0362-EEDD-13E2-65DB-2CEDFECF816F}"/>
          </ac:spMkLst>
        </pc:spChg>
        <pc:spChg chg="mod">
          <ac:chgData name="Armaan _" userId="77787d65ed9969c5" providerId="LiveId" clId="{BB6949FE-2525-44B7-ABE7-C4CC4602B6C7}" dt="2026-09-16T06:47:30.591" v="11" actId="6549"/>
          <ac:spMkLst>
            <pc:docMk/>
            <pc:sldMk cId="2362573507" sldId="267"/>
            <ac:spMk id="10" creationId="{B18BFCBE-4B24-60D9-2032-8BE3E4233718}"/>
          </ac:spMkLst>
        </pc:spChg>
        <pc:spChg chg="mod">
          <ac:chgData name="Armaan _" userId="77787d65ed9969c5" providerId="LiveId" clId="{BB6949FE-2525-44B7-ABE7-C4CC4602B6C7}" dt="2026-09-16T06:47:34.216" v="12" actId="20577"/>
          <ac:spMkLst>
            <pc:docMk/>
            <pc:sldMk cId="2362573507" sldId="267"/>
            <ac:spMk id="11" creationId="{E0601A27-0E0F-9721-34E6-DED551067CC6}"/>
          </ac:spMkLst>
        </pc:spChg>
        <pc:spChg chg="add del mod">
          <ac:chgData name="Armaan _" userId="77787d65ed9969c5" providerId="LiveId" clId="{BB6949FE-2525-44B7-ABE7-C4CC4602B6C7}" dt="2026-09-16T06:47:27.098" v="10"/>
          <ac:spMkLst>
            <pc:docMk/>
            <pc:sldMk cId="2362573507" sldId="267"/>
            <ac:spMk id="12" creationId="{153E3F53-7AFA-8B9F-18BB-1304FCC9B84E}"/>
          </ac:spMkLst>
        </pc:spChg>
        <pc:spChg chg="add mod">
          <ac:chgData name="Armaan _" userId="77787d65ed9969c5" providerId="LiveId" clId="{BB6949FE-2525-44B7-ABE7-C4CC4602B6C7}" dt="2026-09-16T06:50:12.016" v="108" actId="207"/>
          <ac:spMkLst>
            <pc:docMk/>
            <pc:sldMk cId="2362573507" sldId="267"/>
            <ac:spMk id="15" creationId="{17167BEF-746A-A7B0-7A26-B12A148CCE6C}"/>
          </ac:spMkLst>
        </pc:spChg>
        <pc:picChg chg="add mod">
          <ac:chgData name="Armaan _" userId="77787d65ed9969c5" providerId="LiveId" clId="{BB6949FE-2525-44B7-ABE7-C4CC4602B6C7}" dt="2026-09-16T06:48:35.017" v="17" actId="1076"/>
          <ac:picMkLst>
            <pc:docMk/>
            <pc:sldMk cId="2362573507" sldId="267"/>
            <ac:picMk id="14" creationId="{9E530EAB-FA6D-0D72-7DF6-B414F64684B7}"/>
          </ac:picMkLst>
        </pc:picChg>
      </pc:sldChg>
      <pc:sldChg chg="add">
        <pc:chgData name="Armaan _" userId="77787d65ed9969c5" providerId="LiveId" clId="{BB6949FE-2525-44B7-ABE7-C4CC4602B6C7}" dt="2026-09-16T06:50:28.425" v="109" actId="2890"/>
        <pc:sldMkLst>
          <pc:docMk/>
          <pc:sldMk cId="834468288" sldId="26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Weight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CB3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411-4C55-85F9-E858BC2962D6}"/>
              </c:ext>
            </c:extLst>
          </c:dPt>
          <c:dPt>
            <c:idx val="1"/>
            <c:invertIfNegative val="0"/>
            <c:bubble3D val="0"/>
            <c:spPr>
              <a:solidFill>
                <a:srgbClr val="3CB3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411-4C55-85F9-E858BC2962D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411-4C55-85F9-E858BC2962D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B411-4C55-85F9-E858BC2962D6}"/>
              </c:ext>
            </c:extLst>
          </c:dPt>
          <c:dPt>
            <c:idx val="4"/>
            <c:invertIfNegative val="0"/>
            <c:bubble3D val="0"/>
            <c:spPr>
              <a:solidFill>
                <a:srgbClr val="3CB3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411-4C55-85F9-E858BC2962D6}"/>
              </c:ext>
            </c:extLst>
          </c:dPt>
          <c:dPt>
            <c:idx val="5"/>
            <c:invertIfNegative val="0"/>
            <c:bubble3D val="0"/>
            <c:spPr>
              <a:solidFill>
                <a:srgbClr val="3CB3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411-4C55-85F9-E858BC2962D6}"/>
              </c:ext>
            </c:extLst>
          </c:dPt>
          <c:dPt>
            <c:idx val="6"/>
            <c:invertIfNegative val="0"/>
            <c:bubble3D val="0"/>
            <c:spPr>
              <a:solidFill>
                <a:srgbClr val="3CB3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411-4C55-85F9-E858BC2962D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Tenure (months)</c:v>
                </c:pt>
                <c:pt idx="1">
                  <c:v>Weekly watch hrs</c:v>
                </c:pt>
                <c:pt idx="2">
                  <c:v>Payment failures</c:v>
                </c:pt>
                <c:pt idx="3">
                  <c:v>Support tickets</c:v>
                </c:pt>
                <c:pt idx="4">
                  <c:v>Premium plan</c:v>
                </c:pt>
                <c:pt idx="5">
                  <c:v>Logins/month</c:v>
                </c:pt>
                <c:pt idx="6">
                  <c:v>Standard plan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-2.5499999999999998</c:v>
                </c:pt>
                <c:pt idx="1">
                  <c:v>-1.82</c:v>
                </c:pt>
                <c:pt idx="2">
                  <c:v>1.34</c:v>
                </c:pt>
                <c:pt idx="3">
                  <c:v>0.81</c:v>
                </c:pt>
                <c:pt idx="4">
                  <c:v>-0.56999999999999995</c:v>
                </c:pt>
                <c:pt idx="5">
                  <c:v>-0.41</c:v>
                </c:pt>
                <c:pt idx="6">
                  <c:v>-0.4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411-4C55-85F9-E858BC2962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7848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26297-E149-DF05-9101-1FC862A4B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985FD-7500-82F6-1942-9576A189B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05191-283D-98F6-9DB0-E648D4D11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5D881-6F1A-0D74-B4CB-0F7EB4CBBF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106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0E60D-B526-01DB-446C-9982D8855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2A0F47-F96B-3896-34C9-DE3388C56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E0405-F858-65A1-793A-9B660FC7A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A9FCB-537E-A0DB-9C45-657BD6D5C3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22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502920" cy="68580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29800" y="0"/>
            <a:ext cx="502920" cy="6858000"/>
          </a:xfrm>
          <a:prstGeom prst="rect">
            <a:avLst/>
          </a:prstGeom>
          <a:solidFill>
            <a:srgbClr val="B00610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607040" y="0"/>
            <a:ext cx="502920" cy="6858000"/>
          </a:xfrm>
          <a:prstGeom prst="rect">
            <a:avLst/>
          </a:prstGeom>
          <a:solidFill>
            <a:srgbClr val="7A0007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BUSINESS CASE STUDY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Predicting Subscriber Churn at Netflix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58368" y="3977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Logistic Regression to identify at-risk subscribers before they cancel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4709160"/>
            <a:ext cx="2743200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8368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 ·  Business Problem, Data, Solution, Impact &amp; Recommendations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AI/ML Coursework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85E43-9CF7-28A6-7D12-37DA5A55F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460EA52-4ED1-D01E-8AD5-85437DFA9216}"/>
              </a:ext>
            </a:extLst>
          </p:cNvPr>
          <p:cNvSpPr/>
          <p:nvPr/>
        </p:nvSpPr>
        <p:spPr>
          <a:xfrm>
            <a:off x="9052560" y="0"/>
            <a:ext cx="502920" cy="68580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22CE969-19D6-4A90-64DB-1599BF73A7B0}"/>
              </a:ext>
            </a:extLst>
          </p:cNvPr>
          <p:cNvSpPr/>
          <p:nvPr/>
        </p:nvSpPr>
        <p:spPr>
          <a:xfrm>
            <a:off x="9829800" y="0"/>
            <a:ext cx="502920" cy="6858000"/>
          </a:xfrm>
          <a:prstGeom prst="rect">
            <a:avLst/>
          </a:prstGeom>
          <a:solidFill>
            <a:srgbClr val="B00610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5DA9DCA-4C76-6322-8E3E-C2628E846EB8}"/>
              </a:ext>
            </a:extLst>
          </p:cNvPr>
          <p:cNvSpPr/>
          <p:nvPr/>
        </p:nvSpPr>
        <p:spPr>
          <a:xfrm>
            <a:off x="10607040" y="0"/>
            <a:ext cx="502920" cy="6858000"/>
          </a:xfrm>
          <a:prstGeom prst="rect">
            <a:avLst/>
          </a:prstGeom>
          <a:solidFill>
            <a:srgbClr val="7A0007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F685226-DA31-EC79-AF3B-D656FE20B540}"/>
              </a:ext>
            </a:extLst>
          </p:cNvPr>
          <p:cNvSpPr/>
          <p:nvPr/>
        </p:nvSpPr>
        <p:spPr>
          <a:xfrm>
            <a:off x="640080" y="502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63C6D69-AB0D-638C-6C25-F5431A64A257}"/>
              </a:ext>
            </a:extLst>
          </p:cNvPr>
          <p:cNvSpPr/>
          <p:nvPr/>
        </p:nvSpPr>
        <p:spPr>
          <a:xfrm>
            <a:off x="68580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4D908A7-742F-4876-C27B-27148CDD37F9}"/>
              </a:ext>
            </a:extLst>
          </p:cNvPr>
          <p:cNvSpPr/>
          <p:nvPr/>
        </p:nvSpPr>
        <p:spPr>
          <a:xfrm>
            <a:off x="640080" y="2697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endParaRPr lang="en-US" sz="3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F9285DD-67B5-08E3-D9CD-7843A16C6A5B}"/>
              </a:ext>
            </a:extLst>
          </p:cNvPr>
          <p:cNvSpPr/>
          <p:nvPr/>
        </p:nvSpPr>
        <p:spPr>
          <a:xfrm>
            <a:off x="658368" y="3977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18BFCBE-4B24-60D9-2032-8BE3E4233718}"/>
              </a:ext>
            </a:extLst>
          </p:cNvPr>
          <p:cNvSpPr/>
          <p:nvPr/>
        </p:nvSpPr>
        <p:spPr>
          <a:xfrm>
            <a:off x="658368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0601A27-0E0F-9721-34E6-DED551067CC6}"/>
              </a:ext>
            </a:extLst>
          </p:cNvPr>
          <p:cNvSpPr/>
          <p:nvPr/>
        </p:nvSpPr>
        <p:spPr>
          <a:xfrm>
            <a:off x="658368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530EAB-FA6D-0D72-7DF6-B414F6468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" y="0"/>
            <a:ext cx="8156448" cy="593445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7167BEF-746A-A7B0-7A26-B12A148CCE6C}"/>
              </a:ext>
            </a:extLst>
          </p:cNvPr>
          <p:cNvSpPr txBox="1"/>
          <p:nvPr/>
        </p:nvSpPr>
        <p:spPr>
          <a:xfrm>
            <a:off x="292608" y="6195060"/>
            <a:ext cx="864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Aditya Sharma, Chitransh, Daksh Goyal, Ishant, Armaan Kalia, Angel, Pranjal,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Hirday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2573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Company &amp; Industry Introduction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583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6126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Netflix does
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is a global streaming entertainment company delivering movies, TV series, documentaries, and original content to subscribers over the internet, on demand, across TVs, mobiles, tablets, and computers.
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its customers are
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and household subscribers across 190+ countries, spanning multiple age groups, income levels, and content preferences, who pay a recurring monthly/annual subscription fee.
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services
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streaming plans (Basic, Standard, Premium), an ad-supported plan, downloadable offline content, personalized recommendations, and increasingly, games and live content — all bundled into a single monthly subscription.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251960" cy="1298448"/>
          </a:xfrm>
          <a:prstGeom prst="roundRect">
            <a:avLst>
              <a:gd name="adj" fmla="val 5634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589520" y="190195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300M+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326880" y="1901952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subscriber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memberships worldwide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60920" y="3291840"/>
            <a:ext cx="4251960" cy="1298448"/>
          </a:xfrm>
          <a:prstGeom prst="roundRect">
            <a:avLst>
              <a:gd name="adj" fmla="val 5634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589520" y="341071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326880" y="3410712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service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60920" y="4800600"/>
            <a:ext cx="4251960" cy="1298448"/>
          </a:xfrm>
          <a:prstGeom prst="roundRect">
            <a:avLst>
              <a:gd name="adj" fmla="val 5634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589520" y="49194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Subscription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26880" y="4919472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revenue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Subscriber Churn  |  AI/ML Business Case Study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Business Problem: Subscriber Churn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= a paying subscriber cancels their Netflix membership. Every cancellation is lost recurring revenue and a signal that something in the experience failed.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278892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97764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revenue depends entirely on retention — churn directly reduces Monthly Recurring Revenue.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19856" y="251460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48456" y="278892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48456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48456" y="347472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to replace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48456" y="397764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new subscriber (marketing, promotions) costs far more than retaining an existing one.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91072" y="251460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519672" y="278892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19672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19672" y="347472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matters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9672" y="397764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churn signals build up over weeks — engagement drop, payment failures — before the actual cancellation.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62288" y="2514600"/>
            <a:ext cx="2670048" cy="32461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390888" y="2788920"/>
            <a:ext cx="502920" cy="502920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390888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90888" y="347472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pressure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90888" y="3977640"/>
            <a:ext cx="22128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Disney+, Amazon Prime Video, and others make switching easy, so proactive retention is a competitive necessity.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Subscriber Churn  |  AI/ML Business Case Study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Required to Predict Churn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churn model learns from subscriber behavior recorded over time. This case study uses the following feature set: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82296" cy="749808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04672" y="23865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(months)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6791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the subscriber has held their account — newer accounts churn more.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233172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263640" y="2331720"/>
            <a:ext cx="82296" cy="749808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19672" y="23865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watch hours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19672" y="26791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hours streamed per week — a direct measure of engagement.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82296" cy="749808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04672" y="33009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 per month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35935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subscriber opens the app — a proxy for habit strength.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324612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263640" y="3246120"/>
            <a:ext cx="82296" cy="749808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19672" y="33009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(90 days)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9672" y="35935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support/help requests — frequent issues signal frustration.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82296" cy="749808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04672" y="42153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failures (90 days)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" y="45079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billing attempts — a strong, immediate churn trigger.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4160520"/>
            <a:ext cx="5349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263640" y="4160520"/>
            <a:ext cx="82296" cy="749808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519672" y="42153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tier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19672" y="45079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Basic, Standard, or Premium — pricing sensitivity differs by tier.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real-world sources: billing/CRM system, streaming logs, customer-support platform, and subscription-management records.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Subscriber Churn  |  AI/ML Business Case Study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AI/ML Solution: Classification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77840" cy="4206240"/>
          </a:xfrm>
          <a:prstGeom prst="roundRect">
            <a:avLst>
              <a:gd name="adj" fmla="val 2174"/>
            </a:avLst>
          </a:prstGeom>
          <a:solidFill>
            <a:srgbClr val="1F1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Logistic Regression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classification algorithm that predicts the probability a subscriber will churn (Yes/No), based on labeled historical outcomes.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456432"/>
            <a:ext cx="146304" cy="146304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143000" y="331927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outcome: subscriber churns or stays — a natural fit for classification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4050792"/>
            <a:ext cx="146304" cy="146304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43000" y="391363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gets one clear weight — easy to explain to non-technical stakeholders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4645152"/>
            <a:ext cx="146304" cy="146304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143000" y="45079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probability score, so the business can rank subscribers by risk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5239512"/>
            <a:ext cx="146304" cy="146304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143000" y="510235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 and deploy at Netflix's subscriber scale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178308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67512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fits in ML technique choice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2468880"/>
            <a:ext cx="4709160" cy="502920"/>
          </a:xfrm>
          <a:prstGeom prst="roundRect">
            <a:avLst>
              <a:gd name="adj" fmla="val 10909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675120" y="24688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 →  Logistic Regression  ✓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75120" y="3127248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675120" y="31272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supervised options: Random Forest, XGBoost, SVM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374904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675120" y="3749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alt. use: K-Means clustering for segmentation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4434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jump straight to a more complex model?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4754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is chosen first for transparency and explainability — the exact formula behind every prediction can be shown to management, satisfying Responsible-AI expectations before scaling to more complex models.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Subscriber Churn  |  AI/ML Business Case Study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the Solution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 rot="5400000">
            <a:off x="2542032" y="2089404"/>
            <a:ext cx="182880" cy="164592"/>
          </a:xfrm>
          <a:prstGeom prst="triangle">
            <a:avLst/>
          </a:prstGeom>
          <a:solidFill>
            <a:srgbClr val="8C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70632" y="17830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70632" y="1783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System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rot="5400000">
            <a:off x="4764024" y="2089404"/>
            <a:ext cx="182880" cy="164592"/>
          </a:xfrm>
          <a:prstGeom prst="triangle">
            <a:avLst/>
          </a:prstGeom>
          <a:solidFill>
            <a:srgbClr val="8C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992624" y="17830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992624" y="1783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rot="5400000">
            <a:off x="6986016" y="2089404"/>
            <a:ext cx="182880" cy="164592"/>
          </a:xfrm>
          <a:prstGeom prst="triangle">
            <a:avLst/>
          </a:prstGeom>
          <a:solidFill>
            <a:srgbClr val="8C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214616" y="17830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214616" y="1783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rot="5400000">
            <a:off x="9208008" y="2089404"/>
            <a:ext cx="182880" cy="164592"/>
          </a:xfrm>
          <a:prstGeom prst="triangle">
            <a:avLst/>
          </a:prstGeom>
          <a:solidFill>
            <a:srgbClr val="8C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436608" y="17830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436608" y="17830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ML Pipeline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17556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1792" y="3374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04288" y="3337560"/>
            <a:ext cx="155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441448" y="3337560"/>
            <a:ext cx="17556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514600" y="3374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14600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97096" y="3337560"/>
            <a:ext cx="155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334256" y="3337560"/>
            <a:ext cx="17556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407408" y="3374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07408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89904" y="3337560"/>
            <a:ext cx="155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27064" y="3337560"/>
            <a:ext cx="17556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300216" y="3374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0216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982712" y="3337560"/>
            <a:ext cx="155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119872" y="3337560"/>
            <a:ext cx="17556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193024" y="3374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93024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875520" y="3337560"/>
            <a:ext cx="155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0012680" y="3337560"/>
            <a:ext cx="1755648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10085832" y="3374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085832" y="36118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22960" y="4526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 </a:t>
            </a: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month, Netflix's subscriber data (tenure, watch hours, logins, support tickets, payment history, plan tier) is fed into the trained Logistic Regression model. The model outputs a churn probability for every active subscriber. Subscribers above a risk threshold are automatically flagged and routed to the retention team — for a personalized offer, a proactive support call, or a free upgrade month — before they cancel.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Subscriber Churn  |  AI/ML Business Case Study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SNAPSHOT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 Results (Demonstration Run)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3,000 synthetic subscriber records built to mirror the feature set above (80/20 train-test split).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3042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89.7%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907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01568" y="219456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01568" y="23042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14.5%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01568" y="2907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churn 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219456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54496" y="23042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0.69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54496" y="2907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(churn class)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07424" y="219456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07424" y="23042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0.53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107424" y="2907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(churn class)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churn risk (model coefficients)</a:t>
            </a:r>
            <a:endParaRPr lang="en-US" sz="13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548640" y="3977640"/>
          <a:ext cx="68580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7635240" y="3931920"/>
            <a:ext cx="3977640" cy="2606040"/>
          </a:xfrm>
          <a:prstGeom prst="roundRect">
            <a:avLst>
              <a:gd name="adj" fmla="val 2807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863840" y="4114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weights
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= reduces churn risk
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F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= increases churn risk
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tenure and higher weekly watch hours are the strongest retention signals. Payment failures and support tickets are the strongest churn triggers — ideal targets for early intervention.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Subscriber Churn  |  AI/ML Business Case Study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Business Impact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1F1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1965960"/>
            <a:ext cx="365760" cy="365760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4980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40487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customer retention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715768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at-risk subscribers weeks before cancellation, enabling timely, targeted offers.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34256" y="1783080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1F1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35424" y="1965960"/>
            <a:ext cx="365760" cy="365760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3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35424" y="240487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revenue loss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35424" y="2715768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small drop in monthly churn compounds into significant retained subscription revenue.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9872" y="1783080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1F1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321040" y="1965960"/>
            <a:ext cx="365760" cy="365760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32104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240487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services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715768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offers (discounts, upgrades, content nudges) are tailored to each subscriber's risk drivers.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493008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1F1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49808" y="3675888"/>
            <a:ext cx="365760" cy="365760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49808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411480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decision-making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4425696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and support teams get a ranked, prioritized risk list instead of reacting after cancellation.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34256" y="3493008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1F1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535424" y="3675888"/>
            <a:ext cx="365760" cy="365760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35424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35424" y="411480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forecasting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35424" y="4425696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churn probabilities feed more accurate subscriber-growth and revenue forecasts.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19872" y="3493008"/>
            <a:ext cx="3584448" cy="1508760"/>
          </a:xfrm>
          <a:prstGeom prst="roundRect">
            <a:avLst>
              <a:gd name="adj" fmla="val 4848"/>
            </a:avLst>
          </a:prstGeom>
          <a:solidFill>
            <a:srgbClr val="1F1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321040" y="3675888"/>
            <a:ext cx="365760" cy="365760"/>
          </a:xfrm>
          <a:prstGeom prst="ellipse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32104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21040" y="411480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of outreach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4425696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High-volume, low-risk cases can trigger automated emails/offers, freeing agents for complex cases.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Subscriber Churn  |  AI/ML Business Case Study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Challenges, Risks &amp; Responsible 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82296" cy="123444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04672" y="189280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security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24028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history and payment data are sensitive; must be stored and processed under strict access controls.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82296" cy="123444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19672" y="189280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19672" y="224028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must be checked so it doesn't unfairly penalize subscribers by region, plan tier, or demographic group.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82296" cy="123444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04672" y="331012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04672" y="365760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and support teams need to understand why a subscriber was flagged, not just the score.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320040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263640" y="3200400"/>
            <a:ext cx="82296" cy="123444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19672" y="331012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predictions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19672" y="365760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waste retention budget; false negatives mean preventable churn goes unnoticed.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82296" cy="123444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04672" y="472744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 on automation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4672" y="507492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actions should keep a human-in-the-loop for high-value or sensitive accounts.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461772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63640" y="4617720"/>
            <a:ext cx="82296" cy="123444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519672" y="4727448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19672" y="507492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behavior shifts over time (new competitors, pricing changes) — the model needs regular retraining.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Subscriber Churn  |  AI/ML Business Case Study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Recommendation to Management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F1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phased churn-prediction rollout, starting with a transparent, explainable model before scaling complexity.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2670048" cy="28803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2670048" cy="502920"/>
          </a:xfrm>
          <a:prstGeom prst="roundRect">
            <a:avLst>
              <a:gd name="adj" fmla="val 14545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2670048" cy="2286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23042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Logistic Regression on a subset of subscribers; validate predictions against real cancellations.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19856" y="3063240"/>
            <a:ext cx="2670048" cy="28803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419856" y="3063240"/>
            <a:ext cx="2670048" cy="502920"/>
          </a:xfrm>
          <a:prstGeom prst="roundRect">
            <a:avLst>
              <a:gd name="adj" fmla="val 14545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419856" y="3337560"/>
            <a:ext cx="2670048" cy="2286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557016" y="3063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19856" y="3063240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02736" y="3749040"/>
            <a:ext cx="23042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monthly risk scores into the retention team's CRM workflow with clear, explainable reasons.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91072" y="3063240"/>
            <a:ext cx="2670048" cy="28803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291072" y="3063240"/>
            <a:ext cx="2670048" cy="502920"/>
          </a:xfrm>
          <a:prstGeom prst="roundRect">
            <a:avLst>
              <a:gd name="adj" fmla="val 14545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291072" y="3337560"/>
            <a:ext cx="2670048" cy="2286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28232" y="3063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91072" y="3063240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73952" y="3749040"/>
            <a:ext cx="23042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retention offers (discount, upgrade, support call) to each subscriber's specific risk driver.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162288" y="3063240"/>
            <a:ext cx="2670048" cy="28803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9162288" y="3063240"/>
            <a:ext cx="2670048" cy="502920"/>
          </a:xfrm>
          <a:prstGeom prst="roundRect">
            <a:avLst>
              <a:gd name="adj" fmla="val 14545"/>
            </a:avLst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162288" y="3337560"/>
            <a:ext cx="2670048" cy="2286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299448" y="3063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62288" y="3063240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Govern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45168" y="3749040"/>
            <a:ext cx="23042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the full base with bias audits, human review for edge cases, and scheduled model retraining.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Subscriber Churn  |  AI/ML Business Case Study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0"/>
            <a:ext cx="502920" cy="68580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29800" y="0"/>
            <a:ext cx="502920" cy="6858000"/>
          </a:xfrm>
          <a:prstGeom prst="rect">
            <a:avLst/>
          </a:prstGeom>
          <a:solidFill>
            <a:srgbClr val="B00610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607040" y="0"/>
            <a:ext cx="502920" cy="6858000"/>
          </a:xfrm>
          <a:prstGeom prst="rect">
            <a:avLst/>
          </a:prstGeom>
          <a:solidFill>
            <a:srgbClr val="7A0007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BE2A71-99AC-56C1-2782-3E3F3D9741A0}"/>
              </a:ext>
            </a:extLst>
          </p:cNvPr>
          <p:cNvSpPr txBox="1"/>
          <p:nvPr/>
        </p:nvSpPr>
        <p:spPr>
          <a:xfrm>
            <a:off x="320040" y="429768"/>
            <a:ext cx="2728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GIT HUB LINKS:</a:t>
            </a:r>
            <a:endParaRPr lang="en-IN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96743C-622C-D631-870A-CC80227F65AE}"/>
              </a:ext>
            </a:extLst>
          </p:cNvPr>
          <p:cNvSpPr txBox="1"/>
          <p:nvPr/>
        </p:nvSpPr>
        <p:spPr>
          <a:xfrm>
            <a:off x="466344" y="1399032"/>
            <a:ext cx="82478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CHITRANSH:  https://github.com/chitransh2573bbafai25-pixel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ARMAAN KALIA:  https://github.com/armaankalia-16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DAKSH GOYAL:  https://github.com/settings/profile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ADITYA SHARMA:  https://github.com/AdityaSharma145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ANGEL:  https://github.com/angelpiplani39-arch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PRANJAL:  https://github.com/Pranjal2922</a:t>
            </a:r>
          </a:p>
          <a:p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HIRDAY:https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://github.com/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hirdaykohli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ISHANT: https://github.com/isshhaanntt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65E24C-7FCE-DE7B-A528-E6C447BA3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4403EC5-9A3F-8991-9F24-A1657E05BEFA}"/>
              </a:ext>
            </a:extLst>
          </p:cNvPr>
          <p:cNvSpPr/>
          <p:nvPr/>
        </p:nvSpPr>
        <p:spPr>
          <a:xfrm>
            <a:off x="9052560" y="0"/>
            <a:ext cx="502920" cy="68580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C2BFE98-17F2-CE9B-E721-EBA7DD67F23E}"/>
              </a:ext>
            </a:extLst>
          </p:cNvPr>
          <p:cNvSpPr/>
          <p:nvPr/>
        </p:nvSpPr>
        <p:spPr>
          <a:xfrm>
            <a:off x="9829800" y="0"/>
            <a:ext cx="502920" cy="6858000"/>
          </a:xfrm>
          <a:prstGeom prst="rect">
            <a:avLst/>
          </a:prstGeom>
          <a:solidFill>
            <a:srgbClr val="B00610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D8EFA39-F60D-E824-EC9E-958D097CB83E}"/>
              </a:ext>
            </a:extLst>
          </p:cNvPr>
          <p:cNvSpPr/>
          <p:nvPr/>
        </p:nvSpPr>
        <p:spPr>
          <a:xfrm>
            <a:off x="10607040" y="0"/>
            <a:ext cx="502920" cy="6858000"/>
          </a:xfrm>
          <a:prstGeom prst="rect">
            <a:avLst/>
          </a:prstGeom>
          <a:solidFill>
            <a:srgbClr val="7A0007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CFDADF3-BA1A-A6E3-BF06-AC7C8BEA04AC}"/>
              </a:ext>
            </a:extLst>
          </p:cNvPr>
          <p:cNvSpPr/>
          <p:nvPr/>
        </p:nvSpPr>
        <p:spPr>
          <a:xfrm>
            <a:off x="658368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5FA9CD1-61CB-E281-5DFC-17B5569DCEB8}"/>
              </a:ext>
            </a:extLst>
          </p:cNvPr>
          <p:cNvSpPr/>
          <p:nvPr/>
        </p:nvSpPr>
        <p:spPr>
          <a:xfrm>
            <a:off x="658368" y="1920240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simple, explainable model can meaningfully reduce Netflix's subscriber churn — if paired with fast retention action and responsible oversight.</a:t>
            </a:r>
            <a:endParaRPr lang="en-US" sz="2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813E7E6-4FE2-39D1-BC12-FF8F5903057E}"/>
              </a:ext>
            </a:extLst>
          </p:cNvPr>
          <p:cNvSpPr/>
          <p:nvPr/>
        </p:nvSpPr>
        <p:spPr>
          <a:xfrm>
            <a:off x="658368" y="4206240"/>
            <a:ext cx="2743200" cy="0"/>
          </a:xfrm>
          <a:prstGeom prst="line">
            <a:avLst/>
          </a:prstGeom>
          <a:noFill/>
          <a:ln w="254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898CC87-23CD-C0A8-D287-A385953AC271}"/>
              </a:ext>
            </a:extLst>
          </p:cNvPr>
          <p:cNvSpPr/>
          <p:nvPr/>
        </p:nvSpPr>
        <p:spPr>
          <a:xfrm>
            <a:off x="658368" y="4434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C1D280B-C88B-26BB-97CA-98FC68360D9F}"/>
              </a:ext>
            </a:extLst>
          </p:cNvPr>
          <p:cNvSpPr/>
          <p:nvPr/>
        </p:nvSpPr>
        <p:spPr>
          <a:xfrm>
            <a:off x="658368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834468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1413</Words>
  <Application>Microsoft Office PowerPoint</Application>
  <PresentationFormat>Widescreen</PresentationFormat>
  <Paragraphs>204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Armaan _</cp:lastModifiedBy>
  <cp:revision>1</cp:revision>
  <dcterms:created xsi:type="dcterms:W3CDTF">2026-09-15T14:37:08Z</dcterms:created>
  <dcterms:modified xsi:type="dcterms:W3CDTF">2026-09-16T15:24:18Z</dcterms:modified>
</cp:coreProperties>
</file>